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Team Barrie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B5563"/>
                </a:solidFill>
              </a:rPr>
              <a:t>Step-by-step guide for getting a new user into Transit Scheduler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44968"/>
            <a:ext cx="136245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Team Barrie onboarding · Transit Scheduler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65960"/>
            <a:ext cx="2011680" cy="2011680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FFFFFF"/>
                </a:solidFill>
              </a:rPr>
              <a:t>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389120"/>
            <a:ext cx="8778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111827"/>
                </a:solidFill>
              </a:rPr>
              <a:t>Goal: create an account, join Barrie Transit, and learn the first workspaces safely.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ounded Rectangle 10"/>
          <p:cNvSpPr/>
          <p:nvPr/>
        </p:nvSpPr>
        <p:spPr>
          <a:xfrm>
            <a:off x="6099048" y="1298448"/>
            <a:ext cx="7735824" cy="4855464"/>
          </a:xfrm>
          <a:prstGeom prst="roundRect">
            <a:avLst/>
          </a:prstGeom>
          <a:noFill/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Before the new user starts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B5563"/>
                </a:solidFill>
              </a:rPr>
              <a:t>Admin prep takes about two minutes.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44968"/>
            <a:ext cx="136245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Team Barrie onboarding · Transit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0" y="77906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A354"/>
                </a:solidFill>
              </a:rPr>
              <a:t>Admin prep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828800" cy="384048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Open the user menu, then Team Management.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Copy the invite code for Barrie Transit.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Decide the user’s role and access level after they join.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For most new users, start with Production only unless they need planning tools.</a:t>
            </a:r>
          </a:p>
        </p:txBody>
      </p:sp>
      <p:pic>
        <p:nvPicPr>
          <p:cNvPr id="10" name="Picture 9" descr="02-team-management-red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25880"/>
            <a:ext cx="7680960" cy="48006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0" y="2724912"/>
            <a:ext cx="2194560" cy="438912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Copy invite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0" y="4480560"/>
            <a:ext cx="22860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Set access level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ounded Rectangle 12"/>
          <p:cNvSpPr/>
          <p:nvPr/>
        </p:nvSpPr>
        <p:spPr>
          <a:xfrm>
            <a:off x="9985248" y="1389888"/>
            <a:ext cx="4123944" cy="2596896"/>
          </a:xfrm>
          <a:prstGeom prst="roundRect">
            <a:avLst/>
          </a:prstGeom>
          <a:noFill/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79007" y="1389888"/>
            <a:ext cx="4123944" cy="2596896"/>
          </a:xfrm>
          <a:prstGeom prst="roundRect">
            <a:avLst/>
          </a:prstGeom>
          <a:noFill/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Step 1: Create or sign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B5563"/>
                </a:solidFill>
              </a:rPr>
              <a:t>Use the account tied to the new user’s work email.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44968"/>
            <a:ext cx="136245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Team Barrie onboarding · Transit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0" y="77906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A354"/>
                </a:solidFill>
              </a:rPr>
              <a:t>Step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828800" cy="384048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Go to the Transit Scheduler app URL.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Click Sign In in the top-right corner.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New users select Sign up and create a password.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Returning users sign in with their existing account.</a:t>
            </a:r>
          </a:p>
        </p:txBody>
      </p:sp>
      <p:pic>
        <p:nvPicPr>
          <p:cNvPr id="10" name="Picture 9" descr="00-sign-in-create-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4069080" cy="2542032"/>
          </a:xfrm>
          <a:prstGeom prst="rect">
            <a:avLst/>
          </a:prstGeom>
        </p:spPr>
      </p:pic>
      <p:pic>
        <p:nvPicPr>
          <p:cNvPr id="12" name="Picture 11" descr="00b-create-ac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1417320"/>
            <a:ext cx="4069080" cy="254203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00800" y="4251960"/>
            <a:ext cx="1645920" cy="438912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Sign 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61320" y="4251960"/>
            <a:ext cx="21031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Or create account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ounded Rectangle 10"/>
          <p:cNvSpPr/>
          <p:nvPr/>
        </p:nvSpPr>
        <p:spPr>
          <a:xfrm>
            <a:off x="6099048" y="1298448"/>
            <a:ext cx="7735824" cy="4855464"/>
          </a:xfrm>
          <a:prstGeom prst="roundRect">
            <a:avLst/>
          </a:prstGeom>
          <a:noFill/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Step 2: Join Team Barrie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B5563"/>
                </a:solidFill>
              </a:rPr>
              <a:t>The invite code connects the user to Barrie Transit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44968"/>
            <a:ext cx="136245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Team Barrie onboarding · Transit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0" y="77906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A354"/>
                </a:solidFill>
              </a:rPr>
              <a:t>Step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828800" cy="384048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After signing in, open Team Management if prompted.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Choose Join with Code.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Enter the six-character Barrie invite code.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Confirm the user can see Barrie Transit as their team.</a:t>
            </a:r>
          </a:p>
        </p:txBody>
      </p:sp>
      <p:pic>
        <p:nvPicPr>
          <p:cNvPr id="10" name="Picture 9" descr="02-team-management-red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25880"/>
            <a:ext cx="7680960" cy="48006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818120" y="2670048"/>
            <a:ext cx="2468880" cy="438912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Invite code: BARRIE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ounded Rectangle 10"/>
          <p:cNvSpPr/>
          <p:nvPr/>
        </p:nvSpPr>
        <p:spPr>
          <a:xfrm>
            <a:off x="5367528" y="1207008"/>
            <a:ext cx="8558784" cy="5358383"/>
          </a:xfrm>
          <a:prstGeom prst="roundRect">
            <a:avLst/>
          </a:prstGeom>
          <a:noFill/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Step 3: Land on the workspace selector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B5563"/>
                </a:solidFill>
              </a:rPr>
              <a:t>This is the app’s starting point after sign-in.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44968"/>
            <a:ext cx="136245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Team Barrie onboarding · Transit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0" y="77906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A354"/>
                </a:solidFill>
              </a:rPr>
              <a:t>Step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828800" cy="384048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Scheduled Transit is the main fixed-route planning area.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Transit On-Demand is for demand-responsive scheduling.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Dashboard &amp; Reporting is for performance reporting.</a:t>
            </a:r>
          </a:p>
        </p:txBody>
      </p:sp>
      <p:pic>
        <p:nvPicPr>
          <p:cNvPr id="10" name="Picture 9" descr="01-home-workspace-sel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34440"/>
            <a:ext cx="8503920" cy="53035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0" y="4617720"/>
            <a:ext cx="3291840" cy="438912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Choose Scheduled Transit first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ounded Rectangle 10"/>
          <p:cNvSpPr/>
          <p:nvPr/>
        </p:nvSpPr>
        <p:spPr>
          <a:xfrm>
            <a:off x="5961888" y="1207008"/>
            <a:ext cx="7918704" cy="4974336"/>
          </a:xfrm>
          <a:prstGeom prst="roundRect">
            <a:avLst/>
          </a:prstGeom>
          <a:noFill/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Step 4: Open Scheduled Transit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B5563"/>
                </a:solidFill>
              </a:rPr>
              <a:t>This dashboard is the fixed-route command center.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44968"/>
            <a:ext cx="136245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Team Barrie onboarding · Transit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0" y="77906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A354"/>
                </a:solidFill>
              </a:rPr>
              <a:t>Step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828800" cy="384048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Start with Master Schedule to view what is live.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Use Schedule Editor for draft changes.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Use New Schedules only when building from runtime data.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Use Import from GTFS when bringing in published GTFS schedules.</a:t>
            </a:r>
          </a:p>
        </p:txBody>
      </p:sp>
      <p:pic>
        <p:nvPicPr>
          <p:cNvPr id="10" name="Picture 9" descr="04-scheduled-transi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7863840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ounded Rectangle 10"/>
          <p:cNvSpPr/>
          <p:nvPr/>
        </p:nvSpPr>
        <p:spPr>
          <a:xfrm>
            <a:off x="5641848" y="1298448"/>
            <a:ext cx="8238744" cy="5175503"/>
          </a:xfrm>
          <a:prstGeom prst="roundRect">
            <a:avLst/>
          </a:prstGeom>
          <a:noFill/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Step 5: Review the Master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B5563"/>
                </a:solidFill>
              </a:rPr>
              <a:t>Master schedules are the published reference copies.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44968"/>
            <a:ext cx="136245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Team Barrie onboarding · Transit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0" y="77906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A354"/>
                </a:solidFill>
              </a:rPr>
              <a:t>Step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828800" cy="384048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Use filters for route and day type.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Open a route to inspect current published service.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Do not edit master schedules directly.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Copy to draft when changes are needed.</a:t>
            </a:r>
          </a:p>
        </p:txBody>
      </p:sp>
      <p:pic>
        <p:nvPicPr>
          <p:cNvPr id="10" name="Picture 9" descr="07-master-schedule-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8183879" cy="51206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600200"/>
            <a:ext cx="274320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Published source of truth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ounded Rectangle 10"/>
          <p:cNvSpPr/>
          <p:nvPr/>
        </p:nvSpPr>
        <p:spPr>
          <a:xfrm>
            <a:off x="5779007" y="1298448"/>
            <a:ext cx="7872984" cy="4946903"/>
          </a:xfrm>
          <a:prstGeom prst="roundRect">
            <a:avLst/>
          </a:prstGeom>
          <a:noFill/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Step 6: Work from drafts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B5563"/>
                </a:solidFill>
              </a:rPr>
              <a:t>Drafts are the safe place to make schedule changes.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44968"/>
            <a:ext cx="136245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Team Barrie onboarding · Transit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0" y="77906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A354"/>
                </a:solidFill>
              </a:rPr>
              <a:t>Step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828800" cy="384048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Open an existing draft or create one from a master schedule.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Review route, day type, and last updated date before editing.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Publish only after review and approval.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When unsure, duplicate a draft before major edits.</a:t>
            </a:r>
          </a:p>
        </p:txBody>
      </p:sp>
      <p:pic>
        <p:nvPicPr>
          <p:cNvPr id="10" name="Picture 9" descr="08-schedule-editor-draf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7818120" cy="48920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0" y="2057400"/>
            <a:ext cx="155448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Drafts 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ounded Rectangle 10"/>
          <p:cNvSpPr/>
          <p:nvPr/>
        </p:nvSpPr>
        <p:spPr>
          <a:xfrm>
            <a:off x="5779007" y="1298448"/>
            <a:ext cx="7872984" cy="4946903"/>
          </a:xfrm>
          <a:prstGeom prst="roundRect">
            <a:avLst/>
          </a:prstGeom>
          <a:noFill/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Step 7: New Schedule wizard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B5563"/>
                </a:solidFill>
              </a:rPr>
              <a:t>Use this flow to build from runtime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44968"/>
            <a:ext cx="136245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Team Barrie onboarding · Transit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0" y="77906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A354"/>
                </a:solidFill>
              </a:rPr>
              <a:t>Step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828800" cy="384048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Start with CSV runtime data or a sample template.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Choose route and service day carefully.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The wizard guides Upload → Analysis → Build → Schedule → Connections.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Planner review is required before publishing.</a:t>
            </a:r>
          </a:p>
        </p:txBody>
      </p:sp>
      <p:pic>
        <p:nvPicPr>
          <p:cNvPr id="10" name="Picture 9" descr="05-new-schedule-upload-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7818120" cy="48920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0" y="2880360"/>
            <a:ext cx="2834640" cy="438912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Start here for new builds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ounded Rectangle 10"/>
          <p:cNvSpPr/>
          <p:nvPr/>
        </p:nvSpPr>
        <p:spPr>
          <a:xfrm>
            <a:off x="6144768" y="1207008"/>
            <a:ext cx="7187183" cy="4535424"/>
          </a:xfrm>
          <a:prstGeom prst="roundRect">
            <a:avLst/>
          </a:prstGeom>
          <a:noFill/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Step 8: Import from GTFS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B5563"/>
                </a:solidFill>
              </a:rPr>
              <a:t>Use GTFS import to bring existing schedules into drafts.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44968"/>
            <a:ext cx="136245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Team Barrie onboarding · Transit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0" y="77906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A354"/>
                </a:solidFill>
              </a:rPr>
              <a:t>Step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828800" cy="384048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Select a route or import a full system day type.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Choose the correct service period.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Review warnings after import.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Imported schedules still become drafts before publishing.</a:t>
            </a:r>
          </a:p>
        </p:txBody>
      </p:sp>
      <p:pic>
        <p:nvPicPr>
          <p:cNvPr id="10" name="Picture 9" descr="06-gtfs-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7132320" cy="4480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01000" y="5806440"/>
            <a:ext cx="256032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Import creates drafts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ounded Rectangle 10"/>
          <p:cNvSpPr/>
          <p:nvPr/>
        </p:nvSpPr>
        <p:spPr>
          <a:xfrm>
            <a:off x="5779007" y="1298448"/>
            <a:ext cx="7872984" cy="4946903"/>
          </a:xfrm>
          <a:prstGeom prst="roundRect">
            <a:avLst/>
          </a:prstGeom>
          <a:noFill/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Step 9: Timetable Publisher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B5563"/>
                </a:solidFill>
              </a:rPr>
              <a:t>Use this area for public-facing timetable outputs.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44968"/>
            <a:ext cx="136245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Team Barrie onboarding · Transit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0" y="77906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A354"/>
                </a:solidFill>
              </a:rPr>
              <a:t>Step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828800" cy="384048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Choose the route and timetable format.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Preview before exporting.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Use current master schedule data unless told otherwise.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B5563"/>
                </a:solidFill>
              </a:rPr>
              <a:t>Check maps, notes, and effective dates before sharing.</a:t>
            </a:r>
          </a:p>
        </p:txBody>
      </p:sp>
      <p:pic>
        <p:nvPicPr>
          <p:cNvPr id="10" name="Picture 9" descr="09-timetable-publis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7818120" cy="48920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0058400" y="1645920"/>
            <a:ext cx="246888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Preview before export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How to work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B5563"/>
                </a:solidFill>
              </a:rPr>
              <a:t>The app is built around draft → review → publish.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44968"/>
            <a:ext cx="136245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Team Barrie onboarding · Transit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0" y="77906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A354"/>
                </a:solidFill>
              </a:rPr>
              <a:t>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828800" cy="38404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11887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4B5563"/>
                </a:solidFill>
              </a:rPr>
              <a:t>Never treat a master schedule as a scratchpad.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B5563"/>
                </a:solidFill>
              </a:rPr>
              <a:t>Use drafts for edits, experiments, and imports.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B5563"/>
                </a:solidFill>
              </a:rPr>
              <a:t>Let the app calculate timing; avoid manual workarounds.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B5563"/>
                </a:solidFill>
              </a:rPr>
              <a:t>AI may suggest optimizations, but planners make final decisions.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B5563"/>
                </a:solidFill>
              </a:rPr>
              <a:t>Ask an admin before changing access levels or publishing.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5532120"/>
            <a:ext cx="2514600" cy="685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Master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886200" y="5687568"/>
            <a:ext cx="502920" cy="347472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5532120"/>
            <a:ext cx="2514600" cy="685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Copy to draft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23760" y="5687568"/>
            <a:ext cx="502920" cy="347472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09560" y="5532120"/>
            <a:ext cx="2514600" cy="685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Edit / review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561320" y="5687568"/>
            <a:ext cx="502920" cy="347472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247119" y="5532120"/>
            <a:ext cx="2514600" cy="685800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Publish version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Access levels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B5563"/>
                </a:solidFill>
              </a:rPr>
              <a:t>Access controls what each team member sees.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44968"/>
            <a:ext cx="136245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Team Barrie onboarding · Transit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0" y="77906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A354"/>
                </a:solidFill>
              </a:rPr>
              <a:t>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828800" cy="384048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91640"/>
            <a:ext cx="128016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83794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11827"/>
                </a:solidFill>
              </a:rPr>
              <a:t>Production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85623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B5563"/>
                </a:solidFill>
              </a:rPr>
              <a:t>Best for dispatch/reference users. Shows core operational surfaces.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743200"/>
            <a:ext cx="128016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88950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11827"/>
                </a:solidFill>
              </a:rPr>
              <a:t>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90779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B5563"/>
                </a:solidFill>
              </a:rPr>
              <a:t>Adds planning workspaces for route and service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94760"/>
            <a:ext cx="128016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94106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11827"/>
                </a:solidFill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95935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B5563"/>
                </a:solidFill>
              </a:rPr>
              <a:t>For people managing team settings and publishing workflows.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846320"/>
            <a:ext cx="128016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99262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11827"/>
                </a:solidFill>
              </a:rPr>
              <a:t>Developer/internal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50109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B5563"/>
                </a:solidFill>
              </a:rPr>
              <a:t>For development/testing only; do not use for regular onboarding.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New user first-day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B5563"/>
                </a:solidFill>
              </a:rPr>
              <a:t>Use this to confirm onboarding is complete.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44968"/>
            <a:ext cx="136245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Team Barrie onboarding · Transit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0" y="77906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A354"/>
                </a:solidFill>
              </a:rPr>
              <a:t>Checklist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1645920"/>
            <a:ext cx="320040" cy="320040"/>
          </a:xfrm>
          <a:prstGeom prst="ellipse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600200"/>
            <a:ext cx="5669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11827"/>
                </a:solidFill>
              </a:rPr>
              <a:t>Account created with work email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697479"/>
            <a:ext cx="320040" cy="320040"/>
          </a:xfrm>
          <a:prstGeom prst="ellipse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651760"/>
            <a:ext cx="5669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11827"/>
                </a:solidFill>
              </a:rPr>
              <a:t>Joined Barrie Transit team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749039"/>
            <a:ext cx="320040" cy="320040"/>
          </a:xfrm>
          <a:prstGeom prst="ellipse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703320"/>
            <a:ext cx="5669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11827"/>
                </a:solidFill>
              </a:rPr>
              <a:t>Correct role and access level assigned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800599"/>
            <a:ext cx="320040" cy="320040"/>
          </a:xfrm>
          <a:prstGeom prst="ellipse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4754879"/>
            <a:ext cx="5669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11827"/>
                </a:solidFill>
              </a:rPr>
              <a:t>Can open Scheduled Transit</a:t>
            </a:r>
          </a:p>
        </p:txBody>
      </p:sp>
      <p:sp>
        <p:nvSpPr>
          <p:cNvPr id="16" name="Oval 15"/>
          <p:cNvSpPr/>
          <p:nvPr/>
        </p:nvSpPr>
        <p:spPr>
          <a:xfrm>
            <a:off x="7589520" y="1645920"/>
            <a:ext cx="320040" cy="320040"/>
          </a:xfrm>
          <a:prstGeom prst="ellipse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600200"/>
            <a:ext cx="5669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11827"/>
                </a:solidFill>
              </a:rPr>
              <a:t>Can view Master Schedule</a:t>
            </a:r>
          </a:p>
        </p:txBody>
      </p:sp>
      <p:sp>
        <p:nvSpPr>
          <p:cNvPr id="18" name="Oval 17"/>
          <p:cNvSpPr/>
          <p:nvPr/>
        </p:nvSpPr>
        <p:spPr>
          <a:xfrm>
            <a:off x="7589520" y="2697479"/>
            <a:ext cx="320040" cy="320040"/>
          </a:xfrm>
          <a:prstGeom prst="ellipse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651760"/>
            <a:ext cx="5669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11827"/>
                </a:solidFill>
              </a:rPr>
              <a:t>Understands drafts before publishing</a:t>
            </a:r>
          </a:p>
        </p:txBody>
      </p:sp>
      <p:sp>
        <p:nvSpPr>
          <p:cNvPr id="20" name="Oval 19"/>
          <p:cNvSpPr/>
          <p:nvPr/>
        </p:nvSpPr>
        <p:spPr>
          <a:xfrm>
            <a:off x="7589520" y="3749039"/>
            <a:ext cx="320040" cy="320040"/>
          </a:xfrm>
          <a:prstGeom prst="ellipse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3703320"/>
            <a:ext cx="5669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11827"/>
                </a:solidFill>
              </a:rPr>
              <a:t>Knows who to ask for help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2898648" y="1481328"/>
            <a:ext cx="8833104" cy="5541264"/>
          </a:xfrm>
          <a:prstGeom prst="roundRect">
            <a:avLst/>
          </a:prstGeom>
          <a:noFill/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You are ready to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B5563"/>
                </a:solidFill>
              </a:rPr>
              <a:t>Recommended first path: Sign in → Join Barrie Transit → Scheduled Transit → Master Schedule → Drafts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44968"/>
            <a:ext cx="136245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906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B7280"/>
                </a:solidFill>
              </a:rPr>
              <a:t>Team Barrie onboarding · Transit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0" y="77906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22A354"/>
                </a:solidFill>
              </a:rPr>
              <a:t>Done</a:t>
            </a:r>
          </a:p>
        </p:txBody>
      </p:sp>
      <p:pic>
        <p:nvPicPr>
          <p:cNvPr id="8" name="Picture 7" descr="04-scheduled-transi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508760"/>
            <a:ext cx="8778240" cy="5486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0" y="6629400"/>
            <a:ext cx="5486400" cy="438912"/>
          </a:xfrm>
          <a:prstGeom prst="roundRect">
            <a:avLst/>
          </a:prstGeom>
          <a:solidFill>
            <a:srgbClr val="22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Start by viewing, then edit only in drafts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